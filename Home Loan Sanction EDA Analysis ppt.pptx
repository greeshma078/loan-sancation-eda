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3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83" r:id="rId11"/>
    <p:sldId id="271" r:id="rId12"/>
    <p:sldId id="272" r:id="rId13"/>
    <p:sldId id="273" r:id="rId14"/>
    <p:sldId id="284" r:id="rId15"/>
    <p:sldId id="285" r:id="rId16"/>
    <p:sldId id="291" r:id="rId17"/>
    <p:sldId id="274" r:id="rId18"/>
    <p:sldId id="275" r:id="rId19"/>
    <p:sldId id="292" r:id="rId20"/>
    <p:sldId id="286" r:id="rId21"/>
    <p:sldId id="276" r:id="rId22"/>
    <p:sldId id="287" r:id="rId23"/>
    <p:sldId id="288" r:id="rId24"/>
    <p:sldId id="289" r:id="rId25"/>
    <p:sldId id="290" r:id="rId26"/>
    <p:sldId id="281" r:id="rId2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10674" y="4638738"/>
            <a:ext cx="2419046" cy="4571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422" y="-29464"/>
            <a:ext cx="8747155" cy="746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5706" y="1597567"/>
            <a:ext cx="456057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reeshma078" TargetMode="External"/><Relationship Id="rId2" Type="http://schemas.openxmlformats.org/officeDocument/2006/relationships/hyperlink" Target="https://www.linkedin.com/in/greeshmareddy0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963392" cy="15939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0752" y="1885950"/>
            <a:ext cx="472249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2400" dirty="0">
                <a:solidFill>
                  <a:srgbClr val="FF0000"/>
                </a:solidFill>
              </a:rPr>
              <a:t>PROJECT ON</a:t>
            </a:r>
            <a:br>
              <a:rPr lang="en-US" sz="2400" dirty="0">
                <a:solidFill>
                  <a:srgbClr val="FF0000"/>
                </a:solidFill>
              </a:rPr>
            </a:br>
            <a:br>
              <a:rPr lang="en-US" sz="2400" dirty="0"/>
            </a:br>
            <a:r>
              <a:rPr lang="en-US" sz="2400" dirty="0"/>
              <a:t>Exploratory Data Analysis (EDA) On Loan Sanction Dataset</a:t>
            </a:r>
            <a:br>
              <a:rPr lang="en-US" sz="2400" dirty="0"/>
            </a:b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CA0EE-C25E-434D-EB66-AA2C6CEE573B}"/>
              </a:ext>
            </a:extLst>
          </p:cNvPr>
          <p:cNvSpPr txBox="1"/>
          <p:nvPr/>
        </p:nvSpPr>
        <p:spPr>
          <a:xfrm>
            <a:off x="5334000" y="3549561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 err="1"/>
              <a:t>P.Greeshma</a:t>
            </a:r>
            <a:endParaRPr lang="en-IN" dirty="0"/>
          </a:p>
          <a:p>
            <a:r>
              <a:rPr lang="en-IN" dirty="0" err="1"/>
              <a:t>I.Lalitha</a:t>
            </a:r>
            <a:endParaRPr lang="en-IN" dirty="0"/>
          </a:p>
          <a:p>
            <a:r>
              <a:rPr lang="en-IN" dirty="0" err="1"/>
              <a:t>A.Priya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6706-30BB-F654-3BE9-8E73AB43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4FF01C-94CC-AD68-A0C7-150532845A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422" y="133350"/>
            <a:ext cx="8747155" cy="606841"/>
          </a:xfrm>
          <a:prstGeom prst="rect">
            <a:avLst/>
          </a:prstGeom>
        </p:spPr>
        <p:txBody>
          <a:bodyPr vert="horz" wrap="square" lIns="0" tIns="235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latin typeface="Times New Roman"/>
                <a:cs typeface="Times New Roman"/>
              </a:rPr>
              <a:t>About Me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2C6081-A6CE-E6E3-EE3D-81CD0AC7695E}"/>
              </a:ext>
            </a:extLst>
          </p:cNvPr>
          <p:cNvSpPr txBox="1"/>
          <p:nvPr/>
        </p:nvSpPr>
        <p:spPr>
          <a:xfrm>
            <a:off x="364467" y="835405"/>
            <a:ext cx="8076565" cy="321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800" dirty="0"/>
              <a:t>My name is </a:t>
            </a:r>
            <a:r>
              <a:rPr lang="en-US" sz="1800" dirty="0" err="1"/>
              <a:t>P.Greeshma</a:t>
            </a:r>
            <a:r>
              <a:rPr lang="en-US" sz="1800" dirty="0"/>
              <a:t>, and I hold a </a:t>
            </a:r>
            <a:r>
              <a:rPr lang="en-US" sz="1800" dirty="0" err="1"/>
              <a:t>B.Tech</a:t>
            </a:r>
            <a:r>
              <a:rPr lang="en-US" sz="1800" dirty="0"/>
              <a:t> degree in Artificial Intelligence &amp; Data Science from </a:t>
            </a:r>
            <a:r>
              <a:rPr lang="en-US" sz="1800" dirty="0" err="1"/>
              <a:t>RSREC,Nellore</a:t>
            </a:r>
            <a:r>
              <a:rPr lang="en-US" sz="1800" dirty="0"/>
              <a:t>, A.P. I am passionate about expanding my skill set by learning Data Science, as it offers powerful tools to analyze complex data and derive meaningful insights that can drive innovation and decision-making in various industries. Though I do not have prior work experience, I am eager to apply my technical background and analytical mindset to master data science concepts and contribute effectively to future projects.</a:t>
            </a:r>
          </a:p>
          <a:p>
            <a:endParaRPr lang="en-US" sz="1800" dirty="0"/>
          </a:p>
          <a:p>
            <a:r>
              <a:rPr lang="en-US" sz="1600" dirty="0"/>
              <a:t>Connect with Me</a:t>
            </a:r>
          </a:p>
          <a:p>
            <a:r>
              <a:rPr lang="en-US" sz="1600" dirty="0"/>
              <a:t>LinkedIn: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linkedin.com/in/greeshmareddy08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br>
              <a:rPr lang="en-US" sz="1600" dirty="0"/>
            </a:br>
            <a:r>
              <a:rPr lang="en-US" sz="1600" dirty="0"/>
              <a:t>GitHub: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 github.com/greeshma078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sz="1600" dirty="0"/>
          </a:p>
          <a:p>
            <a:r>
              <a:rPr lang="en-IN" sz="1600" dirty="0" err="1"/>
              <a:t>EMail</a:t>
            </a:r>
            <a:r>
              <a:rPr lang="en-IN" sz="1600" dirty="0"/>
              <a:t>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greeshmareddy0708@gmail.com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1313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5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Dataset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Overview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467" y="835405"/>
            <a:ext cx="8076565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lvl="0" indent="-285750"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Loan Sanction dataset</a:t>
            </a:r>
            <a:r>
              <a:rPr lang="en-US" dirty="0"/>
              <a:t> contains information related to loan applicants and is used to analyze and predict whether a loan will be approved or not. The dataset consists of </a:t>
            </a:r>
            <a:r>
              <a:rPr lang="en-US" b="1" dirty="0"/>
              <a:t>614 records</a:t>
            </a:r>
            <a:r>
              <a:rPr lang="en-US" dirty="0"/>
              <a:t> and </a:t>
            </a:r>
            <a:r>
              <a:rPr lang="en-US" b="1" dirty="0"/>
              <a:t>13 features</a:t>
            </a:r>
            <a:r>
              <a:rPr lang="en-US" dirty="0"/>
              <a:t>, including demographic details, financial information, and credit history of applicants.</a:t>
            </a:r>
          </a:p>
          <a:p>
            <a:pPr marL="285750" lvl="0" indent="-285750"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Columns include: 'Loan ID', 'Gender', 'Married', 'Dependents', 'Education’, 'Self Employed', 'Applicant Income', ‘Co applicant Income', 'Loan Amount’, 'Loan Amount Term', 'Credit History', 'Property Area', 'Loan Status’]</a:t>
            </a:r>
          </a:p>
          <a:p>
            <a:pPr marL="285750" lvl="0" indent="-285750">
              <a:buSzPts val="2800"/>
              <a:buFont typeface="Arial" panose="020B0604020202020204" pitchFamily="34" charset="0"/>
              <a:buChar char="•"/>
            </a:pPr>
            <a:r>
              <a:rPr lang="en-US" dirty="0"/>
              <a:t>Data types are 8 categorical and 5 numerical columns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422" y="-109381"/>
            <a:ext cx="8747155" cy="746260"/>
          </a:xfrm>
          <a:prstGeom prst="rect">
            <a:avLst/>
          </a:prstGeom>
        </p:spPr>
        <p:txBody>
          <a:bodyPr vert="horz" wrap="square" lIns="0" tIns="235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description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column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your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dataset: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422" y="660575"/>
            <a:ext cx="8614090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Loan ID:</a:t>
            </a:r>
            <a:r>
              <a:rPr lang="en-US" sz="1800" dirty="0"/>
              <a:t>Unique identification number assigned to each loan applicant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Gender:</a:t>
            </a:r>
            <a:r>
              <a:rPr lang="en-US" sz="1800" dirty="0"/>
              <a:t>Gender of the applicant (Male/Female)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Married:</a:t>
            </a:r>
            <a:r>
              <a:rPr lang="en-US" sz="1800" dirty="0"/>
              <a:t>Marital status of the applicant (Yes/No)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Dependents:</a:t>
            </a:r>
            <a:r>
              <a:rPr lang="en-US" sz="1800" dirty="0"/>
              <a:t>Number of dependents the applicant has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Education:</a:t>
            </a:r>
            <a:r>
              <a:rPr lang="en-US" sz="1800" dirty="0"/>
              <a:t>Education level of the applicant (Graduate/Not Graduate)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Self_Employed:</a:t>
            </a:r>
            <a:r>
              <a:rPr lang="en-US" sz="1800" dirty="0"/>
              <a:t>Indicates whether the applicant is self-employed (Yes/No)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Applicant Income:</a:t>
            </a:r>
            <a:r>
              <a:rPr lang="en-US" sz="1800" dirty="0"/>
              <a:t>Income of the primary applicant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Co applicant Income:</a:t>
            </a:r>
            <a:r>
              <a:rPr lang="en-US" sz="1800" dirty="0"/>
              <a:t>Income of the co-applicant (if any)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Loan Amount:</a:t>
            </a:r>
            <a:r>
              <a:rPr lang="en-US" sz="1800" dirty="0"/>
              <a:t>Loan amount requested (in thousands)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Loan Amount</a:t>
            </a:r>
            <a:r>
              <a:rPr lang="en-IN" b="1" dirty="0"/>
              <a:t> </a:t>
            </a:r>
            <a:r>
              <a:rPr lang="en-IN" sz="1800" b="1" dirty="0"/>
              <a:t>Term:</a:t>
            </a:r>
            <a:r>
              <a:rPr lang="en-US" sz="1800" dirty="0"/>
              <a:t>Duration of the loan in months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Credit History:</a:t>
            </a:r>
            <a:r>
              <a:rPr lang="en-US" sz="1800" dirty="0"/>
              <a:t>Credit history of the applicant (1 = good credit history, 0 = bad)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Property Area:</a:t>
            </a:r>
            <a:r>
              <a:rPr lang="en-US" sz="1800" dirty="0"/>
              <a:t>Area where the property is located (Urban/Semiurban/Rural)</a:t>
            </a:r>
            <a:endParaRPr lang="en-IN" sz="1400" dirty="0"/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IN" sz="1800" b="1" dirty="0"/>
              <a:t>Loan Status</a:t>
            </a:r>
            <a:r>
              <a:rPr lang="en-US" sz="1800" dirty="0"/>
              <a:t>Target variable indicating loan approval status (Y = Approved, N = Rejected)</a:t>
            </a: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5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Dataset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EF35CF-1FAB-87C5-5945-4CC60F4E2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5" y="819150"/>
            <a:ext cx="8566033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17" y="65020"/>
            <a:ext cx="8747155" cy="74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25" dirty="0"/>
              <a:t> </a:t>
            </a:r>
            <a:r>
              <a:rPr spc="-10" dirty="0"/>
              <a:t>Checks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98DDAB-C3B3-A77C-EED5-478454813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16796"/>
            <a:ext cx="3962400" cy="39123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6CAC9A-DDF6-459E-A675-84A1FB2EB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295" y="716797"/>
            <a:ext cx="3969832" cy="39123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8ECF-CB7A-C22A-3084-125312D4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524889-742C-96B6-33A1-B59F418CCD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422" y="163627"/>
            <a:ext cx="8747155" cy="74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25" dirty="0"/>
              <a:t> </a:t>
            </a:r>
            <a:r>
              <a:rPr spc="-10" dirty="0"/>
              <a:t>Checks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86DCD-FA12-81FB-BBFD-8FB33E8EF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09887"/>
            <a:ext cx="7467600" cy="18904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E1B2F0-C7C1-B463-81CE-5C7BB91F95EC}"/>
              </a:ext>
            </a:extLst>
          </p:cNvPr>
          <p:cNvSpPr txBox="1"/>
          <p:nvPr/>
        </p:nvSpPr>
        <p:spPr>
          <a:xfrm>
            <a:off x="304800" y="2800350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generates summary statistics for categorical columns, showing the number of unique values, the most frequent category, and its frequency.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13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022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Preprocessing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Techniques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Dataset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Individual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Columns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267200" y="1581150"/>
            <a:ext cx="4560570" cy="1732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indent="-1879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3530" algn="l"/>
              </a:tabLst>
            </a:pPr>
            <a:r>
              <a:rPr lang="en-IN" spc="-30" dirty="0"/>
              <a:t>7</a:t>
            </a:r>
            <a:r>
              <a:rPr spc="-30" dirty="0"/>
              <a:t> </a:t>
            </a:r>
            <a:r>
              <a:rPr spc="-10" dirty="0"/>
              <a:t>Columns</a:t>
            </a:r>
            <a:r>
              <a:rPr spc="-25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spc="-10" dirty="0"/>
              <a:t>Missing</a:t>
            </a:r>
            <a:r>
              <a:rPr spc="-25" dirty="0"/>
              <a:t> </a:t>
            </a:r>
            <a:r>
              <a:rPr spc="-10" dirty="0"/>
              <a:t>Values</a:t>
            </a:r>
          </a:p>
          <a:p>
            <a:pPr marL="303530" indent="-187960">
              <a:lnSpc>
                <a:spcPct val="100000"/>
              </a:lnSpc>
              <a:buFont typeface="Arial MT"/>
              <a:buChar char="•"/>
              <a:tabLst>
                <a:tab pos="303530" algn="l"/>
              </a:tabLst>
            </a:pPr>
            <a:r>
              <a:rPr dirty="0"/>
              <a:t>No</a:t>
            </a:r>
            <a:r>
              <a:rPr spc="-10" dirty="0"/>
              <a:t> duplicates</a:t>
            </a:r>
          </a:p>
          <a:p>
            <a:pPr marL="303530" marR="5080" indent="-18796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304800" algn="l"/>
              </a:tabLst>
            </a:pPr>
            <a:r>
              <a:rPr dirty="0"/>
              <a:t>Now</a:t>
            </a:r>
            <a:r>
              <a:rPr spc="-25" dirty="0"/>
              <a:t> </a:t>
            </a:r>
            <a:r>
              <a:rPr dirty="0"/>
              <a:t>,I</a:t>
            </a:r>
            <a:r>
              <a:rPr spc="-25" dirty="0"/>
              <a:t> </a:t>
            </a:r>
            <a:r>
              <a:rPr dirty="0"/>
              <a:t>want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perform</a:t>
            </a:r>
            <a:r>
              <a:rPr spc="-20" dirty="0"/>
              <a:t> </a:t>
            </a:r>
            <a:r>
              <a:rPr dirty="0"/>
              <a:t>some</a:t>
            </a:r>
            <a:r>
              <a:rPr spc="-25" dirty="0"/>
              <a:t> </a:t>
            </a:r>
            <a:r>
              <a:rPr spc="-10" dirty="0"/>
              <a:t>Preprocessing</a:t>
            </a:r>
            <a:r>
              <a:rPr spc="-25" dirty="0"/>
              <a:t> Techniques on 	</a:t>
            </a:r>
            <a:r>
              <a:rPr spc="-10" dirty="0"/>
              <a:t>columns</a:t>
            </a:r>
            <a:r>
              <a:rPr spc="-20" dirty="0"/>
              <a:t> </a:t>
            </a:r>
            <a:r>
              <a:rPr spc="-10" dirty="0"/>
              <a:t>like:</a:t>
            </a:r>
          </a:p>
          <a:p>
            <a:pPr marL="12700">
              <a:lnSpc>
                <a:spcPct val="100000"/>
              </a:lnSpc>
            </a:pPr>
            <a:r>
              <a:rPr spc="165" dirty="0">
                <a:latin typeface="Segoe UI Symbol"/>
                <a:cs typeface="Segoe UI Symbol"/>
              </a:rPr>
              <a:t>✔</a:t>
            </a:r>
            <a:r>
              <a:rPr spc="110" dirty="0">
                <a:latin typeface="Segoe UI Symbol"/>
                <a:cs typeface="Segoe UI Symbol"/>
              </a:rPr>
              <a:t>  </a:t>
            </a:r>
            <a:r>
              <a:rPr spc="-10" dirty="0"/>
              <a:t>Handling</a:t>
            </a:r>
            <a:r>
              <a:rPr dirty="0"/>
              <a:t> </a:t>
            </a:r>
            <a:r>
              <a:rPr spc="-10" dirty="0"/>
              <a:t>Missing</a:t>
            </a:r>
            <a:r>
              <a:rPr spc="-5" dirty="0"/>
              <a:t> </a:t>
            </a:r>
            <a:r>
              <a:rPr spc="-10" dirty="0"/>
              <a:t>Values</a:t>
            </a:r>
          </a:p>
          <a:p>
            <a:pPr marL="12700">
              <a:lnSpc>
                <a:spcPct val="100000"/>
              </a:lnSpc>
            </a:pPr>
            <a:r>
              <a:rPr spc="165" dirty="0">
                <a:latin typeface="Segoe UI Symbol"/>
                <a:cs typeface="Segoe UI Symbol"/>
              </a:rPr>
              <a:t>✔</a:t>
            </a:r>
            <a:r>
              <a:rPr spc="100" dirty="0">
                <a:latin typeface="Segoe UI Symbol"/>
                <a:cs typeface="Segoe UI Symbol"/>
              </a:rPr>
              <a:t>  </a:t>
            </a:r>
            <a:r>
              <a:rPr spc="-10" dirty="0"/>
              <a:t>Handling</a:t>
            </a:r>
            <a:r>
              <a:rPr spc="-5" dirty="0"/>
              <a:t> </a:t>
            </a:r>
            <a:r>
              <a:rPr spc="-10" dirty="0"/>
              <a:t>Inconsistence</a:t>
            </a:r>
            <a:r>
              <a:rPr spc="-15" dirty="0"/>
              <a:t> </a:t>
            </a:r>
            <a:r>
              <a:rPr spc="-20" dirty="0"/>
              <a:t>Data</a:t>
            </a:r>
          </a:p>
          <a:p>
            <a:pPr marL="12700">
              <a:lnSpc>
                <a:spcPct val="100000"/>
              </a:lnSpc>
            </a:pPr>
            <a:r>
              <a:rPr spc="165" dirty="0">
                <a:latin typeface="Segoe UI Symbol"/>
                <a:cs typeface="Segoe UI Symbol"/>
              </a:rPr>
              <a:t>✔</a:t>
            </a:r>
            <a:r>
              <a:rPr spc="75" dirty="0">
                <a:latin typeface="Segoe UI Symbol"/>
                <a:cs typeface="Segoe UI Symbol"/>
              </a:rPr>
              <a:t> 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Type</a:t>
            </a:r>
            <a:r>
              <a:rPr spc="-30" dirty="0"/>
              <a:t> </a:t>
            </a:r>
            <a:r>
              <a:rPr spc="-10" dirty="0"/>
              <a:t>Conversions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2EA252-9C2C-D3F7-4779-4E1F10C89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94029"/>
            <a:ext cx="3733800" cy="4216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8B9231E-FF3E-5CA4-7502-A69EB16F8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70625"/>
            <a:ext cx="4876800" cy="38880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AC5E53-1A48-0E67-5AF5-C587427DAB2B}"/>
              </a:ext>
            </a:extLst>
          </p:cNvPr>
          <p:cNvSpPr txBox="1"/>
          <p:nvPr/>
        </p:nvSpPr>
        <p:spPr>
          <a:xfrm>
            <a:off x="304800" y="2848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CORRECTION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EDE39-9E5E-796C-BB04-C3FD5CB40972}"/>
              </a:ext>
            </a:extLst>
          </p:cNvPr>
          <p:cNvSpPr txBox="1"/>
          <p:nvPr/>
        </p:nvSpPr>
        <p:spPr>
          <a:xfrm>
            <a:off x="5410200" y="1733550"/>
            <a:ext cx="3657600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latinLnBrk="1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categorical column </a:t>
            </a:r>
          </a:p>
          <a:p>
            <a:pPr algn="l" latinLnBrk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</a:t>
            </a:r>
            <a:r>
              <a:rPr lang="en-US" sz="1600" dirty="0"/>
              <a:t>'Dependents’)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converted from</a:t>
            </a:r>
          </a:p>
          <a:p>
            <a:pPr algn="l" latinLnBrk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Object data type to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type.</a:t>
            </a:r>
          </a:p>
          <a:p>
            <a:pPr marL="285750" indent="-285750" algn="l" latinLnBrk="1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improves data understanding, </a:t>
            </a:r>
          </a:p>
          <a:p>
            <a:pPr algn="l" latinLnBrk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memory efficiency, and analysis </a:t>
            </a:r>
          </a:p>
          <a:p>
            <a:pPr algn="l" latinLnBrk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performance.</a:t>
            </a:r>
          </a:p>
          <a:p>
            <a:pPr marL="66675" algn="l">
              <a:lnSpc>
                <a:spcPct val="100000"/>
              </a:lnSpc>
              <a:spcBef>
                <a:spcPts val="180"/>
              </a:spcBef>
            </a:pPr>
            <a:r>
              <a:rPr lang="en-US" sz="1600" dirty="0">
                <a:latin typeface="Arial MT"/>
                <a:cs typeface="Arial MT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C305F-ECB1-9D01-E942-7993132BD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1B8E675-F110-C669-1AD3-C9C689E586E7}"/>
              </a:ext>
            </a:extLst>
          </p:cNvPr>
          <p:cNvSpPr txBox="1"/>
          <p:nvPr/>
        </p:nvSpPr>
        <p:spPr>
          <a:xfrm>
            <a:off x="304800" y="28482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CEE639-9951-4882-36CA-119E23DEF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95350"/>
            <a:ext cx="4096971" cy="41078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09E330-8B99-35AC-9E1D-F9251D1D7AD0}"/>
              </a:ext>
            </a:extLst>
          </p:cNvPr>
          <p:cNvSpPr txBox="1"/>
          <p:nvPr/>
        </p:nvSpPr>
        <p:spPr>
          <a:xfrm>
            <a:off x="4311805" y="1355050"/>
            <a:ext cx="457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columns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(like Gender, Married, Dependents,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Self_Employed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are filled using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each column. The mode is the most frequent category, so replacing missing entries with it ensures consistency and avoids unrealistic values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columns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(like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LoanAmount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Loan_Amount_Term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Credit_History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are filled using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each column. The median is preferred over the mean because it is not affected by extreme outliers and better represents the central tendency of the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673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CA04FC9-F315-FC38-A80F-54A2077514F3}"/>
              </a:ext>
            </a:extLst>
          </p:cNvPr>
          <p:cNvSpPr txBox="1"/>
          <p:nvPr/>
        </p:nvSpPr>
        <p:spPr>
          <a:xfrm>
            <a:off x="304800" y="11314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7AE8C9-B3EC-6694-EF60-664F650EE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04674"/>
            <a:ext cx="3733800" cy="30928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F74512-2A15-CA9F-FB9C-37FD3A43C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36362"/>
            <a:ext cx="3523785" cy="32120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6BD54B-B653-90E2-9CC5-A31FF823E470}"/>
              </a:ext>
            </a:extLst>
          </p:cNvPr>
          <p:cNvSpPr txBox="1"/>
          <p:nvPr/>
        </p:nvSpPr>
        <p:spPr>
          <a:xfrm>
            <a:off x="455341" y="3830523"/>
            <a:ext cx="8001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 err="1"/>
              <a:t>ApplicantIncome</a:t>
            </a:r>
            <a:r>
              <a:rPr lang="en-US" sz="1400" dirty="0"/>
              <a:t> shows a right‑skewed distribution with a few very high but realistic incomes.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 err="1"/>
              <a:t>CoapplicantIncome</a:t>
            </a:r>
            <a:r>
              <a:rPr lang="en-US" sz="1400" dirty="0"/>
              <a:t> has valid zeros along with some extreme high values that stand out as outliers.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 err="1"/>
              <a:t>LoanAmount</a:t>
            </a:r>
            <a:r>
              <a:rPr lang="en-US" sz="1400" dirty="0"/>
              <a:t> is mostly within a normal range, but a few very large requests appear as unusual outliers needing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668DB47-A49F-F691-EEAE-8DF21AC2B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33371"/>
            <a:ext cx="3981451" cy="26022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324795-A423-D263-9E86-C93F0FDD3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921" y="721916"/>
            <a:ext cx="3719979" cy="27944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CD364-3AAC-23AF-CEFE-69D10EA570CC}"/>
              </a:ext>
            </a:extLst>
          </p:cNvPr>
          <p:cNvSpPr txBox="1"/>
          <p:nvPr/>
        </p:nvSpPr>
        <p:spPr>
          <a:xfrm>
            <a:off x="381000" y="3516382"/>
            <a:ext cx="4572000" cy="125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786130" indent="-228600" algn="l">
              <a:lnSpc>
                <a:spcPts val="132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 loans are higher than rejected ones, making the dataset slightly imbalanced.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786130" indent="-228600" algn="l">
              <a:lnSpc>
                <a:spcPts val="132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imbalance means models may favor approvals, so careful evaluation and balancing techniques are needed.</a:t>
            </a:r>
          </a:p>
          <a:p>
            <a:pPr marR="786130" algn="l">
              <a:lnSpc>
                <a:spcPts val="132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CC76E-D22F-6F87-7A5B-4469EF6B3359}"/>
              </a:ext>
            </a:extLst>
          </p:cNvPr>
          <p:cNvSpPr txBox="1"/>
          <p:nvPr/>
        </p:nvSpPr>
        <p:spPr>
          <a:xfrm>
            <a:off x="4197910" y="3650788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shows a clear gender imbalance, with male applicants forming the majority.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Female applicants represent a smaller share, which may influence patterns in loan approval analysis.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1F784BE-AB78-6E2A-0894-B56B5E01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22" y="156623"/>
            <a:ext cx="8747155" cy="430887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</a:t>
            </a:r>
            <a:r>
              <a:rPr lang="en-IN" sz="2800" spc="-10" dirty="0">
                <a:latin typeface="Times New Roman"/>
                <a:cs typeface="Times New Roman"/>
              </a:rPr>
              <a:t>- </a:t>
            </a:r>
            <a:r>
              <a:rPr lang="en-IN" sz="2800" dirty="0">
                <a:latin typeface="Times New Roman"/>
                <a:cs typeface="Times New Roman"/>
              </a:rPr>
              <a:t>Categorical</a:t>
            </a:r>
            <a:r>
              <a:rPr lang="en-IN" sz="2800" spc="-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and</a:t>
            </a:r>
            <a:r>
              <a:rPr lang="en-IN" sz="2800" spc="-5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Numerical</a:t>
            </a:r>
            <a:endParaRPr lang="en-IN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9E7FEB-FEDD-7E0B-0AEE-E67D1234E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52" y="666751"/>
            <a:ext cx="4068774" cy="3091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356D7D-0BF8-95E1-59C3-2EF675A15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31" y="742950"/>
            <a:ext cx="3741533" cy="2819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ED5704-4B4B-FC44-3DA7-995BA3C7E063}"/>
              </a:ext>
            </a:extLst>
          </p:cNvPr>
          <p:cNvSpPr txBox="1"/>
          <p:nvPr/>
        </p:nvSpPr>
        <p:spPr>
          <a:xfrm>
            <a:off x="174116" y="3758399"/>
            <a:ext cx="45757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shows that most loan applicants come from semi‑urban areas, making it the dominant group.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areas contribute the least number of applications, highlighting a clear regional imbalance.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9FA82-79B6-9557-219C-E48E85C1AFA5}"/>
              </a:ext>
            </a:extLst>
          </p:cNvPr>
          <p:cNvSpPr txBox="1"/>
          <p:nvPr/>
        </p:nvSpPr>
        <p:spPr>
          <a:xfrm>
            <a:off x="4568284" y="3605568"/>
            <a:ext cx="4499516" cy="125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4445" indent="-171450">
              <a:lnSpc>
                <a:spcPts val="132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applicants have a positive credit history (value = 1),</a:t>
            </a:r>
          </a:p>
          <a:p>
            <a:pPr marR="4445">
              <a:lnSpc>
                <a:spcPts val="132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fewer applicants have no or poor credit history</a:t>
            </a:r>
          </a:p>
          <a:p>
            <a:pPr marR="4445">
              <a:lnSpc>
                <a:spcPts val="132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(value   = 0). </a:t>
            </a:r>
          </a:p>
          <a:p>
            <a:pPr marL="171450" marR="4445" indent="-171450">
              <a:lnSpc>
                <a:spcPts val="132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credit history is skewed toward good records, and since loan approval is strongly linked to credit history, applicants with a positive record are more likely to get their loans approved.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20336-9B3F-92EE-0CB8-F274FE1CF5A7}"/>
              </a:ext>
            </a:extLst>
          </p:cNvPr>
          <p:cNvSpPr txBox="1"/>
          <p:nvPr/>
        </p:nvSpPr>
        <p:spPr>
          <a:xfrm>
            <a:off x="146416" y="12192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B609-262D-9664-C4BC-35949223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C59FD4-F293-FA56-909E-873A868F4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685452"/>
            <a:ext cx="3996281" cy="2876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5DD7C3-E343-5D52-736C-5911D9942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079" y="739910"/>
            <a:ext cx="4005999" cy="2876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69DC2E-4E72-0842-3A2E-161BA2DCE7B2}"/>
              </a:ext>
            </a:extLst>
          </p:cNvPr>
          <p:cNvSpPr txBox="1"/>
          <p:nvPr/>
        </p:nvSpPr>
        <p:spPr>
          <a:xfrm>
            <a:off x="302941" y="3714750"/>
            <a:ext cx="41481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income distribution is right‑skewed, with a long tail of high earners.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applicants belong to the low‑to‑medium income range, forming the bulk of the dataset.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16376-2D4F-EFEA-E369-467D500BDEDA}"/>
              </a:ext>
            </a:extLst>
          </p:cNvPr>
          <p:cNvSpPr txBox="1"/>
          <p:nvPr/>
        </p:nvSpPr>
        <p:spPr>
          <a:xfrm>
            <a:off x="4382739" y="3616808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co‑applicant income distribution shows many applicants with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income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valid when no co‑applicant exists.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cases have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incomes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appearing as outliers compared to the majority.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8B433C-248B-68AA-8508-0398EA506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22" y="156623"/>
            <a:ext cx="8747155" cy="430887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</a:t>
            </a:r>
            <a:r>
              <a:rPr lang="en-IN" sz="2800" spc="-10" dirty="0">
                <a:latin typeface="Times New Roman"/>
                <a:cs typeface="Times New Roman"/>
              </a:rPr>
              <a:t>- </a:t>
            </a:r>
            <a:r>
              <a:rPr lang="en-IN" sz="2800" dirty="0">
                <a:latin typeface="Times New Roman"/>
                <a:cs typeface="Times New Roman"/>
              </a:rPr>
              <a:t>Categorical</a:t>
            </a:r>
            <a:r>
              <a:rPr lang="en-IN" sz="2800" spc="-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and</a:t>
            </a:r>
            <a:r>
              <a:rPr lang="en-IN" sz="2800" spc="-5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Numerical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1114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5286-22EF-8BBF-BBE2-1550612E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5883E6B-07C8-D5C0-F8AE-659FC875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42950"/>
            <a:ext cx="4229099" cy="4293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71686B-33A1-5D77-F1A4-BF69AA06C336}"/>
              </a:ext>
            </a:extLst>
          </p:cNvPr>
          <p:cNvSpPr txBox="1"/>
          <p:nvPr/>
        </p:nvSpPr>
        <p:spPr>
          <a:xfrm>
            <a:off x="4572000" y="1428750"/>
            <a:ext cx="3962400" cy="2570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785"/>
              </a:lnSpc>
              <a:buFont typeface="Wingdings" panose="05000000000000000000" pitchFamily="2" charset="2"/>
              <a:buChar char="§"/>
            </a:pPr>
            <a:r>
              <a:rPr lang="en-US" sz="1800" b="0" dirty="0"/>
              <a:t>The loan amount distribution is right‑skewed, with most values concentrated in the lower range.</a:t>
            </a:r>
          </a:p>
          <a:p>
            <a:pPr marL="342900" indent="-342900">
              <a:lnSpc>
                <a:spcPts val="2785"/>
              </a:lnSpc>
              <a:buFont typeface="Wingdings" panose="05000000000000000000" pitchFamily="2" charset="2"/>
              <a:buChar char="§"/>
            </a:pPr>
            <a:r>
              <a:rPr lang="en-US" sz="1800" b="0" dirty="0"/>
              <a:t>Only a few applicants request very high loan amounts, making such cases less frequent.</a:t>
            </a:r>
          </a:p>
          <a:p>
            <a:pPr marL="342900" indent="-342900">
              <a:lnSpc>
                <a:spcPts val="2785"/>
              </a:lnSpc>
              <a:buFont typeface="Wingdings" panose="05000000000000000000" pitchFamily="2" charset="2"/>
              <a:buChar char="§"/>
            </a:pPr>
            <a:endParaRPr lang="en-IN" sz="1800" b="0" dirty="0">
              <a:latin typeface="Times New Roman"/>
              <a:cs typeface="Times New Roman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627F11-16A6-E30E-5D24-9F223882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9550"/>
            <a:ext cx="8747155" cy="430887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</a:t>
            </a:r>
            <a:r>
              <a:rPr lang="en-IN" sz="2800" spc="-10" dirty="0">
                <a:latin typeface="Times New Roman"/>
                <a:cs typeface="Times New Roman"/>
              </a:rPr>
              <a:t>- </a:t>
            </a:r>
            <a:r>
              <a:rPr lang="en-IN" sz="2800" dirty="0">
                <a:latin typeface="Times New Roman"/>
                <a:cs typeface="Times New Roman"/>
              </a:rPr>
              <a:t>Categorical</a:t>
            </a:r>
            <a:r>
              <a:rPr lang="en-IN" sz="2800" spc="-5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cs typeface="Times New Roman"/>
              </a:rPr>
              <a:t>and</a:t>
            </a:r>
            <a:r>
              <a:rPr lang="en-IN" sz="2800" spc="-5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Numerical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70256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665F6-8162-B8F8-A550-83088F6F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0310449-8466-AB93-3912-A4CB4F543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16071"/>
            <a:ext cx="5126406" cy="3989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89B3B-7E30-2DE3-3FE9-2772DF0DF995}"/>
              </a:ext>
            </a:extLst>
          </p:cNvPr>
          <p:cNvSpPr txBox="1"/>
          <p:nvPr/>
        </p:nvSpPr>
        <p:spPr>
          <a:xfrm>
            <a:off x="5562600" y="1733550"/>
            <a:ext cx="32505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Male applicants show a higher number of loan approvals, mainly because they submit more applications.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This trend reflects the larger male applicant base rather than a bias in approval decisions.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F70D97-5666-F5C9-268D-06D76956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22" y="222706"/>
            <a:ext cx="8747155" cy="430887"/>
          </a:xfrm>
        </p:spPr>
        <p:txBody>
          <a:bodyPr/>
          <a:lstStyle/>
          <a:p>
            <a:r>
              <a:rPr lang="en-IN" sz="2800" spc="-10" dirty="0">
                <a:latin typeface="Times New Roman"/>
                <a:cs typeface="Times New Roman"/>
              </a:rPr>
              <a:t>Bivariate</a:t>
            </a:r>
            <a:r>
              <a:rPr lang="en-IN" sz="2800" spc="-140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Analysis-</a:t>
            </a:r>
            <a:r>
              <a:rPr lang="en-IN" sz="2800" dirty="0">
                <a:latin typeface="Times New Roman"/>
                <a:cs typeface="Times New Roman"/>
              </a:rPr>
              <a:t>Categorical</a:t>
            </a:r>
            <a:r>
              <a:rPr lang="en-IN" sz="2800" spc="-5" dirty="0">
                <a:latin typeface="Times New Roman"/>
                <a:cs typeface="Times New Roman"/>
              </a:rPr>
              <a:t> Vs </a:t>
            </a:r>
            <a:r>
              <a:rPr lang="en-IN" sz="2800" spc="-10" dirty="0">
                <a:latin typeface="Times New Roman"/>
                <a:cs typeface="Times New Roman"/>
              </a:rPr>
              <a:t>Numerical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398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637A9AA-CC67-C75F-AB3F-0CA6C0ED2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81" y="742950"/>
            <a:ext cx="4208478" cy="3872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CFE489-F9CC-4F38-5C7C-EC6D1690E569}"/>
              </a:ext>
            </a:extLst>
          </p:cNvPr>
          <p:cNvSpPr txBox="1"/>
          <p:nvPr/>
        </p:nvSpPr>
        <p:spPr>
          <a:xfrm>
            <a:off x="4800599" y="1504950"/>
            <a:ext cx="37043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The dataset confirms a class imbalance, with approved loans outnumbering rejected ones.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This imbalance may cause models to favor approvals, so careful evaluation is required.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530595-DB63-03EC-3B7F-7CD78725C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22" y="133350"/>
            <a:ext cx="8747155" cy="430887"/>
          </a:xfrm>
        </p:spPr>
        <p:txBody>
          <a:bodyPr/>
          <a:lstStyle/>
          <a:p>
            <a:r>
              <a:rPr lang="en-IN" sz="2800" spc="-10" dirty="0">
                <a:latin typeface="Times New Roman"/>
                <a:cs typeface="Times New Roman"/>
              </a:rPr>
              <a:t>Bivariate</a:t>
            </a:r>
            <a:r>
              <a:rPr lang="en-IN" sz="2800" spc="-140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Analysis-</a:t>
            </a:r>
            <a:r>
              <a:rPr lang="en-IN" sz="2800" dirty="0">
                <a:latin typeface="Times New Roman"/>
                <a:cs typeface="Times New Roman"/>
              </a:rPr>
              <a:t>Categorical</a:t>
            </a:r>
            <a:r>
              <a:rPr lang="en-IN" sz="2800" spc="-5" dirty="0">
                <a:latin typeface="Times New Roman"/>
                <a:cs typeface="Times New Roman"/>
              </a:rPr>
              <a:t> Vs </a:t>
            </a:r>
            <a:r>
              <a:rPr lang="en-IN" sz="2800" spc="-10" dirty="0">
                <a:latin typeface="Times New Roman"/>
                <a:cs typeface="Times New Roman"/>
              </a:rPr>
              <a:t>Numerical</a:t>
            </a:r>
            <a:endParaRPr lang="en-I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BE159E-2D7B-F877-B8F4-B81C397CC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6" y="712401"/>
            <a:ext cx="5831013" cy="4145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0A21AD-42C5-D016-C118-7DF4CE4423B6}"/>
              </a:ext>
            </a:extLst>
          </p:cNvPr>
          <p:cNvSpPr txBox="1"/>
          <p:nvPr/>
        </p:nvSpPr>
        <p:spPr>
          <a:xfrm>
            <a:off x="6096000" y="1885950"/>
            <a:ext cx="240157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/>
              <a:t>Applicants with a positive credit history show significantly higher loan approval rates.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/>
              <a:t>Credit history emerges as the most powerful predictor in the dataset.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C4E1A8-9C05-982D-927D-B5E9F01B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23" y="133350"/>
            <a:ext cx="8747155" cy="430887"/>
          </a:xfrm>
        </p:spPr>
        <p:txBody>
          <a:bodyPr/>
          <a:lstStyle/>
          <a:p>
            <a:r>
              <a:rPr lang="en-IN" sz="2800" spc="-10" dirty="0">
                <a:latin typeface="Times New Roman"/>
                <a:cs typeface="Times New Roman"/>
              </a:rPr>
              <a:t>Bivariate</a:t>
            </a:r>
            <a:r>
              <a:rPr lang="en-IN" sz="2800" spc="-140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Analysis-</a:t>
            </a:r>
            <a:r>
              <a:rPr lang="en-IN" sz="2800" dirty="0">
                <a:latin typeface="Times New Roman"/>
                <a:cs typeface="Times New Roman"/>
              </a:rPr>
              <a:t>Categorical</a:t>
            </a:r>
            <a:r>
              <a:rPr lang="en-IN" sz="2800" spc="-5" dirty="0">
                <a:latin typeface="Times New Roman"/>
                <a:cs typeface="Times New Roman"/>
              </a:rPr>
              <a:t> Vs </a:t>
            </a:r>
            <a:r>
              <a:rPr lang="en-IN" sz="2800" spc="-10" dirty="0">
                <a:latin typeface="Times New Roman"/>
                <a:cs typeface="Times New Roman"/>
              </a:rPr>
              <a:t>Numerical</a:t>
            </a:r>
            <a:endParaRPr lang="en-IN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C04BC-DDA5-7DF0-B1C6-5EB4EDBF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BB2B993-A484-E044-4602-7ABAC6EB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28" y="971550"/>
            <a:ext cx="5398742" cy="3733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EA54C1-3D56-8315-A5C6-AEB0D182F66A}"/>
              </a:ext>
            </a:extLst>
          </p:cNvPr>
          <p:cNvSpPr txBox="1"/>
          <p:nvPr/>
        </p:nvSpPr>
        <p:spPr>
          <a:xfrm>
            <a:off x="5651070" y="1962150"/>
            <a:ext cx="30856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/>
              <a:t>Approved applicants generally have somewhat higher incomes compared to rejected ones.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/>
              <a:t>However, there is noticeable overlap, meaning income alone does not fully determine approval.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917BA6-7F05-5105-6A82-87DCD9AD7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42" y="178871"/>
            <a:ext cx="8747155" cy="430887"/>
          </a:xfrm>
        </p:spPr>
        <p:txBody>
          <a:bodyPr/>
          <a:lstStyle/>
          <a:p>
            <a:r>
              <a:rPr lang="en-IN" sz="2800" spc="-10" dirty="0">
                <a:latin typeface="Times New Roman"/>
                <a:cs typeface="Times New Roman"/>
              </a:rPr>
              <a:t>Bivariate</a:t>
            </a:r>
            <a:r>
              <a:rPr lang="en-IN" sz="2800" spc="-140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Analysis-</a:t>
            </a:r>
            <a:r>
              <a:rPr lang="en-IN" sz="2800" dirty="0">
                <a:latin typeface="Times New Roman"/>
                <a:cs typeface="Times New Roman"/>
              </a:rPr>
              <a:t>Categorical</a:t>
            </a:r>
            <a:r>
              <a:rPr lang="en-IN" sz="2800" spc="-5" dirty="0">
                <a:latin typeface="Times New Roman"/>
                <a:cs typeface="Times New Roman"/>
              </a:rPr>
              <a:t> Vs </a:t>
            </a:r>
            <a:r>
              <a:rPr lang="en-IN" sz="2800" spc="-10" dirty="0">
                <a:latin typeface="Times New Roman"/>
                <a:cs typeface="Times New Roman"/>
              </a:rPr>
              <a:t>Numerical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30833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6CD7-C47E-1C00-61EE-95190F45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3803BB-79E8-218A-6F6B-3F5D84B7A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21" y="624216"/>
            <a:ext cx="5046679" cy="44662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961354-6CA8-DF23-9EB4-0C12C051B02B}"/>
              </a:ext>
            </a:extLst>
          </p:cNvPr>
          <p:cNvSpPr txBox="1"/>
          <p:nvPr/>
        </p:nvSpPr>
        <p:spPr>
          <a:xfrm>
            <a:off x="5296938" y="1428750"/>
            <a:ext cx="3505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The median applicant income varies across property areas. Rural applicants show a slightly higher median income compared to urban and semiurban applicants.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Since the median is less affected by extreme values, this provides a more robust comparison of income levels across property areas.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2E1473-4606-4C81-EC35-1375598D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24" y="193329"/>
            <a:ext cx="8747155" cy="430887"/>
          </a:xfrm>
        </p:spPr>
        <p:txBody>
          <a:bodyPr/>
          <a:lstStyle/>
          <a:p>
            <a:r>
              <a:rPr lang="en-IN" sz="2800" spc="-10" dirty="0">
                <a:latin typeface="Times New Roman"/>
                <a:cs typeface="Times New Roman"/>
              </a:rPr>
              <a:t>Bivariate</a:t>
            </a:r>
            <a:r>
              <a:rPr lang="en-IN" sz="2800" spc="-140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Analysis-</a:t>
            </a:r>
            <a:r>
              <a:rPr lang="en-IN" sz="2800" dirty="0">
                <a:latin typeface="Times New Roman"/>
                <a:cs typeface="Times New Roman"/>
              </a:rPr>
              <a:t>Categorical</a:t>
            </a:r>
            <a:r>
              <a:rPr lang="en-IN" sz="2800" spc="-5" dirty="0">
                <a:latin typeface="Times New Roman"/>
                <a:cs typeface="Times New Roman"/>
              </a:rPr>
              <a:t> Vs </a:t>
            </a:r>
            <a:r>
              <a:rPr lang="en-IN" sz="2800" spc="-10" dirty="0">
                <a:latin typeface="Times New Roman"/>
                <a:cs typeface="Times New Roman"/>
              </a:rPr>
              <a:t>Numerical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16298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90A291-7167-C3A3-AD12-FA8AEE28E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486240"/>
            <a:ext cx="5641535" cy="45429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B3355A-AB35-1974-DE47-DBBF7858A486}"/>
              </a:ext>
            </a:extLst>
          </p:cNvPr>
          <p:cNvSpPr txBox="1"/>
          <p:nvPr/>
        </p:nvSpPr>
        <p:spPr>
          <a:xfrm>
            <a:off x="5879427" y="1276350"/>
            <a:ext cx="304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Applicant Income and Loan Amount have a moderate positive correlation, while Co applicant Income shows only a weak link.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Credit History has very low correlation with income variables, and no strong multicollinearity is present.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D48CD6-770D-E161-9860-C37860DDF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72" y="55353"/>
            <a:ext cx="8747155" cy="430887"/>
          </a:xfrm>
        </p:spPr>
        <p:txBody>
          <a:bodyPr/>
          <a:lstStyle/>
          <a:p>
            <a:r>
              <a:rPr lang="en-IN" sz="2800" spc="-10" dirty="0">
                <a:latin typeface="Times New Roman"/>
                <a:cs typeface="Times New Roman"/>
              </a:rPr>
              <a:t>Multivariate</a:t>
            </a:r>
            <a:r>
              <a:rPr lang="en-IN" sz="2800" spc="-70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Analysis</a:t>
            </a:r>
            <a:endParaRPr lang="en-IN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44A14-1D90-4987-885A-BE30E1D1D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649390-26D3-C39E-A27B-8D01FE28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23681"/>
            <a:ext cx="5105400" cy="4310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D7259E-F27B-35BD-D625-D669AC053B55}"/>
              </a:ext>
            </a:extLst>
          </p:cNvPr>
          <p:cNvSpPr txBox="1"/>
          <p:nvPr/>
        </p:nvSpPr>
        <p:spPr>
          <a:xfrm>
            <a:off x="5486400" y="1581150"/>
            <a:ext cx="3276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Applicants with higher incomes usually request larger loan amounts.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600" dirty="0"/>
              <a:t>However, approvals and rejections overlap, showing that income alone doesn’t decide loan approval.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CC9115-1C8B-0214-1ABB-8A8BA4AE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3350"/>
            <a:ext cx="8747155" cy="430887"/>
          </a:xfrm>
        </p:spPr>
        <p:txBody>
          <a:bodyPr/>
          <a:lstStyle/>
          <a:p>
            <a:r>
              <a:rPr lang="en-IN" sz="2800" spc="-10" dirty="0">
                <a:latin typeface="Times New Roman"/>
                <a:cs typeface="Times New Roman"/>
              </a:rPr>
              <a:t>Multivariate</a:t>
            </a:r>
            <a:r>
              <a:rPr lang="en-IN" sz="2800" spc="-70" dirty="0">
                <a:latin typeface="Times New Roman"/>
                <a:cs typeface="Times New Roman"/>
              </a:rPr>
              <a:t> </a:t>
            </a:r>
            <a:r>
              <a:rPr lang="en-IN" sz="2800" spc="-10" dirty="0">
                <a:latin typeface="Times New Roman"/>
                <a:cs typeface="Times New Roman"/>
              </a:rPr>
              <a:t>Analysis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93237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86F6-D90D-0D85-D146-CFF83F436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1950"/>
            <a:ext cx="8747155" cy="861774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INSIGHTS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43090F-8F1D-05A9-D257-741A8DEFBB12}"/>
              </a:ext>
            </a:extLst>
          </p:cNvPr>
          <p:cNvSpPr txBox="1"/>
          <p:nvPr/>
        </p:nvSpPr>
        <p:spPr>
          <a:xfrm>
            <a:off x="457200" y="895350"/>
            <a:ext cx="7620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applicant income and combined applicant–co-applicant income increase loan approval chances, as they indicate stronger repayment capability.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history is the most influential factor, with applicants having a good credit record receiving significantly more approvals.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Married applicants generally have higher approval rates, while approval probability decreases as the number of dependents increases.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Graduates show a slightly higher loan approval rate compared to non-graduates, reflecting better financial credibility.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Applicants from urban and semi-urban areas and those in salaried employment receive more loan approvals than rural and self-employed applicants.</a:t>
            </a:r>
          </a:p>
        </p:txBody>
      </p:sp>
    </p:spTree>
    <p:extLst>
      <p:ext uri="{BB962C8B-B14F-4D97-AF65-F5344CB8AC3E}">
        <p14:creationId xmlns:p14="http://schemas.microsoft.com/office/powerpoint/2010/main" val="334555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FA27-5FE9-7BC4-6482-AC82927F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CB6A-2E2D-F101-C251-1D2474E6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1950"/>
            <a:ext cx="8747155" cy="430887"/>
          </a:xfrm>
        </p:spPr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952C6-D50E-C33C-1AFD-96FC7B0618A4}"/>
              </a:ext>
            </a:extLst>
          </p:cNvPr>
          <p:cNvSpPr txBox="1"/>
          <p:nvPr/>
        </p:nvSpPr>
        <p:spPr>
          <a:xfrm>
            <a:off x="601677" y="971550"/>
            <a:ext cx="8153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key variables, such as loan amount and credit history, contain missing values that required careful preprocessing to avoid biased results.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is imbalanced, with a higher number of approved loans, which may affect the performance and fairness of predictive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 outliers in applicant income and loan amount can distort analysis and needed treatment for accurate modeling.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categorical features required encoding and transformation before applying machine learning algorithms.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absence of detailed financial behavior data, such as liabilities and spending patterns, limits overall 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2397565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53327-B248-2BC4-09F8-EEEBA79D4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AC18-E938-B063-DCDD-AA373F1E1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1950"/>
            <a:ext cx="8747155" cy="430887"/>
          </a:xfrm>
        </p:spPr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D38A3-CD0C-23D6-6A20-13CE6C786B70}"/>
              </a:ext>
            </a:extLst>
          </p:cNvPr>
          <p:cNvSpPr txBox="1"/>
          <p:nvPr/>
        </p:nvSpPr>
        <p:spPr>
          <a:xfrm>
            <a:off x="609600" y="971550"/>
            <a:ext cx="8001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approval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primarily driven by credit history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followed by income and property area.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Demographic features such as education, marital status, and employment type play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 role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handling of missing values and outliers is essential for reliable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is suitable for building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approval prediction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model performance can be improved with additional financial and behavioral features.</a:t>
            </a:r>
          </a:p>
        </p:txBody>
      </p:sp>
    </p:spTree>
    <p:extLst>
      <p:ext uri="{BB962C8B-B14F-4D97-AF65-F5344CB8AC3E}">
        <p14:creationId xmlns:p14="http://schemas.microsoft.com/office/powerpoint/2010/main" val="647151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887" y="1388061"/>
            <a:ext cx="3349232" cy="21257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3100" y="1913636"/>
            <a:ext cx="200215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00B050"/>
                </a:solidFill>
                <a:latin typeface="Times New Roman"/>
                <a:cs typeface="Times New Roman"/>
              </a:rPr>
              <a:t>Thank</a:t>
            </a:r>
            <a:r>
              <a:rPr spc="-19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pc="-75" dirty="0">
                <a:solidFill>
                  <a:srgbClr val="00B050"/>
                </a:solidFill>
                <a:latin typeface="Times New Roman"/>
                <a:cs typeface="Times New Roman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1505</Words>
  <Application>Microsoft Office PowerPoint</Application>
  <PresentationFormat>On-screen Show (16:9)</PresentationFormat>
  <Paragraphs>114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MT</vt:lpstr>
      <vt:lpstr>Calibri</vt:lpstr>
      <vt:lpstr>Segoe UI Symbol</vt:lpstr>
      <vt:lpstr>Times New Roman</vt:lpstr>
      <vt:lpstr>Wingdings</vt:lpstr>
      <vt:lpstr>Office Theme</vt:lpstr>
      <vt:lpstr>PROJECT ON  Exploratory Data Analysis (EDA) On Loan Sanction Dataset </vt:lpstr>
      <vt:lpstr>About Me</vt:lpstr>
      <vt:lpstr>Dataset Overview</vt:lpstr>
      <vt:lpstr>Simple description of each column in your dataset:</vt:lpstr>
      <vt:lpstr>Reading Dataset</vt:lpstr>
      <vt:lpstr>Basic Checks</vt:lpstr>
      <vt:lpstr>Basic Checks</vt:lpstr>
      <vt:lpstr>Preprocessing Techniques on Dataset Individual Columns</vt:lpstr>
      <vt:lpstr>PowerPoint Presentation</vt:lpstr>
      <vt:lpstr>PowerPoint Presentation</vt:lpstr>
      <vt:lpstr>PowerPoint Presentation</vt:lpstr>
      <vt:lpstr>Univariate Analysis - Categorical and Numerical</vt:lpstr>
      <vt:lpstr>PowerPoint Presentation</vt:lpstr>
      <vt:lpstr>Univariate Analysis - Categorical and Numerical</vt:lpstr>
      <vt:lpstr>Univariate Analysis - Categorical and Numerical</vt:lpstr>
      <vt:lpstr>Bivariate Analysis-Categorical Vs Numerical</vt:lpstr>
      <vt:lpstr>Bivariate Analysis-Categorical Vs Numerical</vt:lpstr>
      <vt:lpstr>Bivariate Analysis-Categorical Vs Numerical</vt:lpstr>
      <vt:lpstr>Bivariate Analysis-Categorical Vs Numerical</vt:lpstr>
      <vt:lpstr>Bivariate Analysis-Categorical Vs Numerical</vt:lpstr>
      <vt:lpstr>Multivariate Analysis</vt:lpstr>
      <vt:lpstr>Multivariate Analysis</vt:lpstr>
      <vt:lpstr>OVERALL INSIGHTS </vt:lpstr>
      <vt:lpstr>CHALLENGES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EDA PPT</dc:title>
  <dc:creator>Penumalli Greeshma</dc:creator>
  <cp:lastModifiedBy>Penumalli Greeshma</cp:lastModifiedBy>
  <cp:revision>7</cp:revision>
  <dcterms:created xsi:type="dcterms:W3CDTF">2025-12-19T04:05:29Z</dcterms:created>
  <dcterms:modified xsi:type="dcterms:W3CDTF">2025-12-26T13:48:03Z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2025-12-19T00:00:00Z</vt:filetime>
  </property>
</Properties>
</file>